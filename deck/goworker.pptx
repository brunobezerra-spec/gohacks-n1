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7D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6888" cy="6345936"/>
          </a:xfrm>
          <a:prstGeom prst="roundRect">
            <a:avLst>
              <a:gd name="adj" fmla="val 1297"/>
            </a:avLst>
          </a:prstGeom>
          <a:solidFill>
            <a:srgbClr val="2659A5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713232"/>
            <a:ext cx="118872" cy="118872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" y="713232"/>
            <a:ext cx="118872" cy="118872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" y="713232"/>
            <a:ext cx="118872" cy="118872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6" name="Shape 4"/>
          <p:cNvSpPr/>
          <p:nvPr/>
        </p:nvSpPr>
        <p:spPr>
          <a:xfrm>
            <a:off x="7982712" y="658368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/>
        </p:spPr>
      </p:sp>
      <p:sp>
        <p:nvSpPr>
          <p:cNvPr id="7" name="Text 5"/>
          <p:cNvSpPr/>
          <p:nvPr/>
        </p:nvSpPr>
        <p:spPr>
          <a:xfrm>
            <a:off x="7982712" y="6583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4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HACKATHON 2026  ·  FINANCEIRO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financeiro não vai usar IA.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239572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financeiro vai virar IA.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914400" y="3566160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D7D900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3611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Goworker do Financeiro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25296" y="418795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primeiro funcionário de IA do fluxo de pagamentos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5296" y="4590288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É DASHBOARD.  NÃO É CHATBOT.  EXECUTA.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902952" y="5897880"/>
            <a:ext cx="1591056" cy="475488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/>
        </p:spPr>
      </p:sp>
      <p:pic>
        <p:nvPicPr>
          <p:cNvPr id="15" name="Image 0" descr="/Users/bruno/.claude/skills/gogroup-brand/assets/logos/gogroup-wordmark-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7544" y="5971032"/>
            <a:ext cx="1261872" cy="3227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659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6888" cy="6345936"/>
          </a:xfrm>
          <a:prstGeom prst="roundRect">
            <a:avLst>
              <a:gd name="adj" fmla="val 1297"/>
            </a:avLst>
          </a:prstGeom>
          <a:solidFill>
            <a:srgbClr val="F5F0E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713232"/>
            <a:ext cx="118872" cy="118872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" y="713232"/>
            <a:ext cx="118872" cy="118872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" y="713232"/>
            <a:ext cx="118872" cy="118872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78992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Hoje o aprovador é a única peneira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86968" y="166420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Fila de aprovação de pagamentos no GoService  ·  medido em 18/09/2026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240280"/>
            <a:ext cx="2432304" cy="2057400"/>
          </a:xfrm>
          <a:prstGeom prst="roundRect">
            <a:avLst>
              <a:gd name="adj" fmla="val 7111"/>
            </a:avLst>
          </a:prstGeom>
          <a:solidFill>
            <a:srgbClr val="2659A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87168"/>
            <a:ext cx="24323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1.058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14984" y="3273552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pedidos esperando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aprovação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38728" y="2240280"/>
            <a:ext cx="2432304" cy="2057400"/>
          </a:xfrm>
          <a:prstGeom prst="roundRect">
            <a:avLst>
              <a:gd name="adj" fmla="val 7111"/>
            </a:avLst>
          </a:prstGeom>
          <a:solidFill>
            <a:srgbClr val="E5381A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2487168"/>
            <a:ext cx="24323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R$ 64,4 mi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85032" y="3273552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parados na fila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aprovação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2240280"/>
            <a:ext cx="2432304" cy="2057400"/>
          </a:xfrm>
          <a:prstGeom prst="roundRect">
            <a:avLst>
              <a:gd name="adj" fmla="val 7111"/>
            </a:avLst>
          </a:prstGeom>
          <a:solidFill>
            <a:srgbClr val="F8AE13"/>
          </a:solidFill>
          <a:ln/>
        </p:spPr>
      </p:sp>
      <p:sp>
        <p:nvSpPr>
          <p:cNvPr id="15" name="Text 13"/>
          <p:cNvSpPr/>
          <p:nvPr/>
        </p:nvSpPr>
        <p:spPr>
          <a:xfrm>
            <a:off x="6208776" y="2487168"/>
            <a:ext cx="24323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91 dias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55080" y="3273552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idade mediana de um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pedido na fila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78824" y="2240280"/>
            <a:ext cx="2432304" cy="2057400"/>
          </a:xfrm>
          <a:prstGeom prst="roundRect">
            <a:avLst>
              <a:gd name="adj" fmla="val 7111"/>
            </a:avLst>
          </a:prstGeom>
          <a:solidFill>
            <a:srgbClr val="E61782"/>
          </a:solidFill>
          <a:ln/>
        </p:spPr>
      </p:sp>
      <p:sp>
        <p:nvSpPr>
          <p:cNvPr id="18" name="Text 16"/>
          <p:cNvSpPr/>
          <p:nvPr/>
        </p:nvSpPr>
        <p:spPr>
          <a:xfrm>
            <a:off x="8878824" y="2487168"/>
            <a:ext cx="24323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768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025128" y="3273552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acima de 30 dias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(Art. 11 exige controle)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4681728"/>
            <a:ext cx="1045159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659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681728"/>
            <a:ext cx="9902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 pedido chega igual na mesa do diretor.  </a:t>
            </a:r>
            <a:pPr indent="0" marL="0">
              <a:buNone/>
            </a:pPr>
            <a:r>
              <a:rPr lang="en-US" sz="1400" dirty="0">
                <a:solidFill>
                  <a:srgbClr val="122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Teste, duplicata, alçada errada e pagamento legítimo disputam a mesma atenção.</a:t>
            </a:r>
            <a:endParaRPr lang="en-US" sz="1400" dirty="0"/>
          </a:p>
        </p:txBody>
      </p:sp>
      <p:pic>
        <p:nvPicPr>
          <p:cNvPr id="22" name="Image 0" descr="/Users/bruno/.claude/skills/gogroup-brand/assets/logos/gogroup-wordmark-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5288" y="5961888"/>
            <a:ext cx="1188720" cy="3044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59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6888" cy="6345936"/>
          </a:xfrm>
          <a:prstGeom prst="roundRect">
            <a:avLst>
              <a:gd name="adj" fmla="val 1297"/>
            </a:avLst>
          </a:prstGeom>
          <a:solidFill>
            <a:srgbClr val="F5F0E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640080"/>
            <a:ext cx="118872" cy="118872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" y="640080"/>
            <a:ext cx="118872" cy="118872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" y="640080"/>
            <a:ext cx="118872" cy="118872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9144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Goworker é a peneira entre o pedido e o aprovador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1572768" cy="173736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25400">
            <a:solidFill>
              <a:srgbClr val="2659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4203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SOLICITANTE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944368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pede um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pagamento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3035808"/>
            <a:ext cx="420624" cy="310896"/>
          </a:xfrm>
          <a:prstGeom prst="rightArrow">
            <a:avLst/>
          </a:prstGeom>
          <a:solidFill>
            <a:srgbClr val="D7D900"/>
          </a:solidFill>
          <a:ln/>
        </p:spPr>
      </p:sp>
      <p:sp>
        <p:nvSpPr>
          <p:cNvPr id="11" name="Shape 9"/>
          <p:cNvSpPr/>
          <p:nvPr/>
        </p:nvSpPr>
        <p:spPr>
          <a:xfrm>
            <a:off x="3072384" y="1572768"/>
            <a:ext cx="3310128" cy="4279392"/>
          </a:xfrm>
          <a:prstGeom prst="roundRect">
            <a:avLst>
              <a:gd name="adj" fmla="val 4972"/>
            </a:avLst>
          </a:prstGeom>
          <a:solidFill>
            <a:srgbClr val="2659A5"/>
          </a:solidFill>
          <a:ln/>
        </p:spPr>
      </p:sp>
      <p:sp>
        <p:nvSpPr>
          <p:cNvPr id="12" name="Text 10"/>
          <p:cNvSpPr/>
          <p:nvPr/>
        </p:nvSpPr>
        <p:spPr>
          <a:xfrm>
            <a:off x="3072384" y="1810512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60" kern="0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GOWORKER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72384" y="2194560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lê, confronta e decide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2560320"/>
            <a:ext cx="2871216" cy="969264"/>
          </a:xfrm>
          <a:prstGeom prst="roundRect">
            <a:avLst>
              <a:gd name="adj" fmla="val 11321"/>
            </a:avLst>
          </a:prstGeom>
          <a:solidFill>
            <a:srgbClr val="1E4A8A"/>
          </a:solidFill>
          <a:ln/>
        </p:spPr>
      </p:sp>
      <p:sp>
        <p:nvSpPr>
          <p:cNvPr id="15" name="Shape 13"/>
          <p:cNvSpPr/>
          <p:nvPr/>
        </p:nvSpPr>
        <p:spPr>
          <a:xfrm>
            <a:off x="3438144" y="2715768"/>
            <a:ext cx="310896" cy="310896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16" name="Text 14"/>
          <p:cNvSpPr/>
          <p:nvPr/>
        </p:nvSpPr>
        <p:spPr>
          <a:xfrm>
            <a:off x="3438144" y="27157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697480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Lê o pedido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0480" y="299008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fornecedor, CNPJ, valor,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vencimento, centro de custo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3639312"/>
            <a:ext cx="2871216" cy="969264"/>
          </a:xfrm>
          <a:prstGeom prst="roundRect">
            <a:avLst>
              <a:gd name="adj" fmla="val 11321"/>
            </a:avLst>
          </a:prstGeom>
          <a:solidFill>
            <a:srgbClr val="1E4A8A"/>
          </a:solidFill>
          <a:ln/>
        </p:spPr>
      </p:sp>
      <p:sp>
        <p:nvSpPr>
          <p:cNvPr id="20" name="Shape 18"/>
          <p:cNvSpPr/>
          <p:nvPr/>
        </p:nvSpPr>
        <p:spPr>
          <a:xfrm>
            <a:off x="3438144" y="3794760"/>
            <a:ext cx="310896" cy="310896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21" name="Text 19"/>
          <p:cNvSpPr/>
          <p:nvPr/>
        </p:nvSpPr>
        <p:spPr>
          <a:xfrm>
            <a:off x="3438144" y="3794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3776472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Confronta as regras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40480" y="4069080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 sinais ativos + Política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Corporativa de Pagamentos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4718304"/>
            <a:ext cx="2871216" cy="969264"/>
          </a:xfrm>
          <a:prstGeom prst="roundRect">
            <a:avLst>
              <a:gd name="adj" fmla="val 11321"/>
            </a:avLst>
          </a:prstGeom>
          <a:solidFill>
            <a:srgbClr val="1E4A8A"/>
          </a:solidFill>
          <a:ln/>
        </p:spPr>
      </p:sp>
      <p:sp>
        <p:nvSpPr>
          <p:cNvPr id="25" name="Shape 23"/>
          <p:cNvSpPr/>
          <p:nvPr/>
        </p:nvSpPr>
        <p:spPr>
          <a:xfrm>
            <a:off x="3438144" y="4873752"/>
            <a:ext cx="310896" cy="310896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26" name="Text 24"/>
          <p:cNvSpPr/>
          <p:nvPr/>
        </p:nvSpPr>
        <p:spPr>
          <a:xfrm>
            <a:off x="3438144" y="48737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485546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Checa consistência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40480" y="5148072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matriz e filial, duplicidade,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alçada, aprovador ativo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92240" y="3035808"/>
            <a:ext cx="420624" cy="310896"/>
          </a:xfrm>
          <a:prstGeom prst="rightArrow">
            <a:avLst/>
          </a:prstGeom>
          <a:solidFill>
            <a:srgbClr val="D7D900"/>
          </a:solidFill>
          <a:ln/>
        </p:spPr>
      </p:sp>
      <p:sp>
        <p:nvSpPr>
          <p:cNvPr id="30" name="Text 28"/>
          <p:cNvSpPr/>
          <p:nvPr/>
        </p:nvSpPr>
        <p:spPr>
          <a:xfrm>
            <a:off x="7059168" y="1371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DESTINOS POSSÍVEIS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59168" y="1645920"/>
            <a:ext cx="4261104" cy="969264"/>
          </a:xfrm>
          <a:prstGeom prst="roundRect">
            <a:avLst>
              <a:gd name="adj" fmla="val 13208"/>
            </a:avLst>
          </a:prstGeom>
          <a:solidFill>
            <a:srgbClr val="3DBFEF"/>
          </a:solidFill>
          <a:ln/>
        </p:spPr>
      </p:sp>
      <p:sp>
        <p:nvSpPr>
          <p:cNvPr id="32" name="Text 30"/>
          <p:cNvSpPr/>
          <p:nvPr/>
        </p:nvSpPr>
        <p:spPr>
          <a:xfrm>
            <a:off x="7278624" y="17556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ENCAMINHAR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78624" y="2084832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passa limpo para o aprovador decidir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930384" y="1755648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208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930384" y="2231136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20% da fila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59168" y="2724912"/>
            <a:ext cx="4261104" cy="969264"/>
          </a:xfrm>
          <a:prstGeom prst="roundRect">
            <a:avLst>
              <a:gd name="adj" fmla="val 13208"/>
            </a:avLst>
          </a:prstGeom>
          <a:solidFill>
            <a:srgbClr val="F8AE13"/>
          </a:solidFill>
          <a:ln/>
        </p:spPr>
      </p:sp>
      <p:sp>
        <p:nvSpPr>
          <p:cNvPr id="37" name="Text 35"/>
          <p:cNvSpPr/>
          <p:nvPr/>
        </p:nvSpPr>
        <p:spPr>
          <a:xfrm>
            <a:off x="7278624" y="283464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RE-ROTEAR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78624" y="3163824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alçada errada: manda para quem pode assinar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930384" y="2834640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9930384" y="3310128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12% da fila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59168" y="3803904"/>
            <a:ext cx="4261104" cy="969264"/>
          </a:xfrm>
          <a:prstGeom prst="roundRect">
            <a:avLst>
              <a:gd name="adj" fmla="val 13208"/>
            </a:avLst>
          </a:prstGeom>
          <a:solidFill>
            <a:srgbClr val="E61782"/>
          </a:solidFill>
          <a:ln/>
        </p:spPr>
      </p:sp>
      <p:sp>
        <p:nvSpPr>
          <p:cNvPr id="42" name="Text 40"/>
          <p:cNvSpPr/>
          <p:nvPr/>
        </p:nvSpPr>
        <p:spPr>
          <a:xfrm>
            <a:off x="7278624" y="391363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DEVOLVER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78624" y="4242816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volta ao solicitante para corrigir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930384" y="3913632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9930384" y="4389120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2% da fila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59168" y="4882896"/>
            <a:ext cx="4261104" cy="969264"/>
          </a:xfrm>
          <a:prstGeom prst="roundRect">
            <a:avLst>
              <a:gd name="adj" fmla="val 13208"/>
            </a:avLst>
          </a:prstGeom>
          <a:solidFill>
            <a:srgbClr val="E5381A"/>
          </a:solidFill>
          <a:ln/>
        </p:spPr>
      </p:sp>
      <p:sp>
        <p:nvSpPr>
          <p:cNvPr id="47" name="Text 45"/>
          <p:cNvSpPr/>
          <p:nvPr/>
        </p:nvSpPr>
        <p:spPr>
          <a:xfrm>
            <a:off x="7278624" y="49926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DESCARTAR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278624" y="5321808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teste, fila zumbi e o que não vira pagamento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930384" y="4992624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706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9930384" y="5468112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66% da fila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68680" y="6144768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22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Sozinho, sem pedir permissão a cada pedido. O Goworker nunca aprova nem recusa: isso continua com a alçada (Art. 4 e 7).</a:t>
            </a:r>
            <a:endParaRPr lang="en-US" sz="1000" dirty="0"/>
          </a:p>
        </p:txBody>
      </p:sp>
      <p:pic>
        <p:nvPicPr>
          <p:cNvPr id="52" name="Image 0" descr="/Users/bruno/.claude/skills/gogroup-brand/assets/logos/gogroup-wordmark-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5288" y="5961888"/>
            <a:ext cx="1188720" cy="304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7D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6888" cy="6345936"/>
          </a:xfrm>
          <a:prstGeom prst="roundRect">
            <a:avLst>
              <a:gd name="adj" fmla="val 1297"/>
            </a:avLst>
          </a:prstGeom>
          <a:solidFill>
            <a:srgbClr val="2659A5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658368"/>
            <a:ext cx="118872" cy="118872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" y="658368"/>
            <a:ext cx="118872" cy="118872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" y="658368"/>
            <a:ext cx="118872" cy="118872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960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muda no GoService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86968" y="153619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Mesma fila de 1.058 pedidos, com e sem o Goworker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0128" y="2103120"/>
            <a:ext cx="2011680" cy="365760"/>
          </a:xfrm>
          <a:prstGeom prst="roundRect">
            <a:avLst>
              <a:gd name="adj" fmla="val 45000"/>
            </a:avLst>
          </a:prstGeom>
          <a:solidFill>
            <a:srgbClr val="1E4A8A"/>
          </a:solidFill>
          <a:ln/>
        </p:spPr>
      </p:sp>
      <p:sp>
        <p:nvSpPr>
          <p:cNvPr id="9" name="Text 7"/>
          <p:cNvSpPr/>
          <p:nvPr/>
        </p:nvSpPr>
        <p:spPr>
          <a:xfrm>
            <a:off x="3310128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2103120"/>
            <a:ext cx="5285232" cy="365760"/>
          </a:xfrm>
          <a:prstGeom prst="roundRect">
            <a:avLst>
              <a:gd name="adj" fmla="val 45000"/>
            </a:avLst>
          </a:prstGeom>
          <a:solidFill>
            <a:srgbClr val="D7D900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103120"/>
            <a:ext cx="5285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2560320"/>
            <a:ext cx="10451592" cy="713232"/>
          </a:xfrm>
          <a:prstGeom prst="roundRect">
            <a:avLst>
              <a:gd name="adj" fmla="val 12821"/>
            </a:avLst>
          </a:prstGeom>
          <a:solidFill>
            <a:srgbClr val="1E4A8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615184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Chegam à mesa do aprovador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2615184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DB6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1.058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68112" y="2852928"/>
            <a:ext cx="310896" cy="201168"/>
          </a:xfrm>
          <a:prstGeom prst="rightArrow">
            <a:avLst/>
          </a:prstGeom>
          <a:solidFill>
            <a:srgbClr val="D7D900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2615184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052560" y="2615184"/>
            <a:ext cx="21579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−80%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401568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Valor que ele precisa olhar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3401568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DB6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R$ 64,4 mi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68112" y="3639312"/>
            <a:ext cx="310896" cy="201168"/>
          </a:xfrm>
          <a:prstGeom prst="rightArrow">
            <a:avLst/>
          </a:prstGeom>
          <a:solidFill>
            <a:srgbClr val="D7D900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3401568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R$ 7,2 mi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52560" y="3401568"/>
            <a:ext cx="21579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−89%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" y="4133088"/>
            <a:ext cx="10451592" cy="713232"/>
          </a:xfrm>
          <a:prstGeom prst="roundRect">
            <a:avLst>
              <a:gd name="adj" fmla="val 12821"/>
            </a:avLst>
          </a:prstGeom>
          <a:solidFill>
            <a:srgbClr val="1E4A8A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187952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Triagem de cada pedido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10128" y="4187952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DB6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68112" y="4425696"/>
            <a:ext cx="310896" cy="201168"/>
          </a:xfrm>
          <a:prstGeom prst="rightArrow">
            <a:avLst/>
          </a:prstGeom>
          <a:solidFill>
            <a:srgbClr val="D7D900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187952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automática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052560" y="4187952"/>
            <a:ext cx="21579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minutos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4974336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Alçada do Art. 7 conferida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10128" y="4974336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DB6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68112" y="5212080"/>
            <a:ext cx="310896" cy="201168"/>
          </a:xfrm>
          <a:prstGeom prst="rightArrow">
            <a:avLst/>
          </a:prstGeom>
          <a:solidFill>
            <a:srgbClr val="D7D900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4974336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209 fora da regra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052560" y="4974336"/>
            <a:ext cx="21579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R$ 15,0 mi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68680" y="5742432"/>
            <a:ext cx="8778240" cy="658368"/>
          </a:xfrm>
          <a:prstGeom prst="roundRect">
            <a:avLst>
              <a:gd name="adj" fmla="val 19444"/>
            </a:avLst>
          </a:prstGeom>
          <a:solidFill>
            <a:srgbClr val="D7D900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5742432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749 ações já escritas no GoService  </a:t>
            </a:r>
            <a:pPr algn="ctr" indent="0" marL="0">
              <a:buNone/>
            </a:pPr>
            <a:r>
              <a:rPr lang="en-US" sz="130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  640 comentários, 109 encerramentos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902952" y="5897880"/>
            <a:ext cx="1591056" cy="475488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/>
        </p:spPr>
      </p:sp>
      <p:pic>
        <p:nvPicPr>
          <p:cNvPr id="37" name="Image 0" descr="/Users/bruno/.claude/skills/gogroup-brand/assets/logos/gogroup-wordmark-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7544" y="5971032"/>
            <a:ext cx="1261872" cy="3227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59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6888" cy="6345936"/>
          </a:xfrm>
          <a:prstGeom prst="roundRect">
            <a:avLst>
              <a:gd name="adj" fmla="val 1297"/>
            </a:avLst>
          </a:prstGeom>
          <a:solidFill>
            <a:srgbClr val="F5F0E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658368"/>
            <a:ext cx="118872" cy="118872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" y="658368"/>
            <a:ext cx="118872" cy="118872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" y="658368"/>
            <a:ext cx="118872" cy="118872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960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Entregue, e o que vem depois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1719072"/>
            <a:ext cx="5120640" cy="2889504"/>
          </a:xfrm>
          <a:prstGeom prst="roundRect">
            <a:avLst>
              <a:gd name="adj" fmla="val 5063"/>
            </a:avLst>
          </a:prstGeom>
          <a:solidFill>
            <a:srgbClr val="2659A5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93852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93852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4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52144" y="2523744"/>
            <a:ext cx="128016" cy="128016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11" name="Text 9"/>
          <p:cNvSpPr/>
          <p:nvPr/>
        </p:nvSpPr>
        <p:spPr>
          <a:xfrm>
            <a:off x="1426464" y="243230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POC pronta e validada em teste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52144" y="3035808"/>
            <a:ext cx="128016" cy="128016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13" name="Text 11"/>
          <p:cNvSpPr/>
          <p:nvPr/>
        </p:nvSpPr>
        <p:spPr>
          <a:xfrm>
            <a:off x="1426464" y="29443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 rodando em produção, sozinho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52144" y="3547872"/>
            <a:ext cx="128016" cy="128016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15" name="Text 13"/>
          <p:cNvSpPr/>
          <p:nvPr/>
        </p:nvSpPr>
        <p:spPr>
          <a:xfrm>
            <a:off x="1426464" y="34564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749 ações reais no GoService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52144" y="4059936"/>
            <a:ext cx="128016" cy="128016"/>
          </a:xfrm>
          <a:prstGeom prst="ellipse">
            <a:avLst/>
          </a:prstGeom>
          <a:solidFill>
            <a:srgbClr val="D7D900"/>
          </a:solidFill>
          <a:ln/>
        </p:spPr>
      </p:sp>
      <p:sp>
        <p:nvSpPr>
          <p:cNvPr id="17" name="Text 15"/>
          <p:cNvSpPr/>
          <p:nvPr/>
        </p:nvSpPr>
        <p:spPr>
          <a:xfrm>
            <a:off x="1426464" y="39684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vaga congelada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99632" y="1719072"/>
            <a:ext cx="5120640" cy="1335024"/>
          </a:xfrm>
          <a:prstGeom prst="roundRect">
            <a:avLst>
              <a:gd name="adj" fmla="val 10959"/>
            </a:avLst>
          </a:prstGeom>
          <a:solidFill>
            <a:srgbClr val="3DBFEF"/>
          </a:solidFill>
          <a:ln/>
        </p:spPr>
      </p:sp>
      <p:sp>
        <p:nvSpPr>
          <p:cNvPr id="19" name="Text 17"/>
          <p:cNvSpPr/>
          <p:nvPr/>
        </p:nvSpPr>
        <p:spPr>
          <a:xfrm>
            <a:off x="6455664" y="186537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MELHORIA CONTÍNUA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55664" y="2212848"/>
            <a:ext cx="4626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 o anexo do pedido: hoje o boleto e a nota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ficam fora do alcance do agente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9632" y="3218688"/>
            <a:ext cx="5120640" cy="1335024"/>
          </a:xfrm>
          <a:prstGeom prst="roundRect">
            <a:avLst>
              <a:gd name="adj" fmla="val 10959"/>
            </a:avLst>
          </a:prstGeom>
          <a:solidFill>
            <a:srgbClr val="F8AE13"/>
          </a:solidFill>
          <a:ln/>
        </p:spPr>
      </p:sp>
      <p:sp>
        <p:nvSpPr>
          <p:cNvPr id="22" name="Text 20"/>
          <p:cNvSpPr/>
          <p:nvPr/>
        </p:nvSpPr>
        <p:spPr>
          <a:xfrm>
            <a:off x="6455664" y="336499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ESCALAR O MODELO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55664" y="3712464"/>
            <a:ext cx="4626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Goworkers iguais nas demais atividades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financeiro: conciliação, cadastro, fiscal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632" y="4718304"/>
            <a:ext cx="5120640" cy="1335024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25400">
            <a:solidFill>
              <a:srgbClr val="2659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48646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DESTINO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55664" y="5175504"/>
            <a:ext cx="46268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financeiro IA First: pessoas decidem,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agentes executam o caminho até a decisão.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4718304"/>
            <a:ext cx="5120640" cy="1335024"/>
          </a:xfrm>
          <a:prstGeom prst="roundRect">
            <a:avLst>
              <a:gd name="adj" fmla="val 10959"/>
            </a:avLst>
          </a:prstGeom>
          <a:solidFill>
            <a:srgbClr val="D7D9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15568" y="4864608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196 h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133856" y="546811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economizadas na fila atual,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 premissas declaradas e auditáveis</a:t>
            </a:r>
            <a:endParaRPr lang="en-US" sz="1100" dirty="0"/>
          </a:p>
        </p:txBody>
      </p:sp>
      <p:pic>
        <p:nvPicPr>
          <p:cNvPr id="30" name="Image 0" descr="/Users/bruno/.claude/skills/gogroup-brand/assets/logos/gogroup-wordmark-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5288" y="5961888"/>
            <a:ext cx="1188720" cy="3044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Goworker do Financeiro</dc:title>
  <dc:subject>PptxGenJS Presentation</dc:subject>
  <dc:creator>Gogroup</dc:creator>
  <cp:lastModifiedBy>Gogroup</cp:lastModifiedBy>
  <cp:revision>1</cp:revision>
  <dcterms:created xsi:type="dcterms:W3CDTF">2026-09-18T22:26:15Z</dcterms:created>
  <dcterms:modified xsi:type="dcterms:W3CDTF">2026-09-18T22:26:15Z</dcterms:modified>
</cp:coreProperties>
</file>